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ppt/charts/chart1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 Volume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88-455A-925D-B34AFEB9F1A1}"/>
              </c:ext>
            </c:extLst>
          </c:dPt>
          <c:dPt>
            <c:idx val="1"/>
            <c:invertIfNegative val="0"/>
            <c:bubble3D val="0"/>
            <c:spPr>
              <a:solidFill>
                <a:srgbClr val="5B7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88-455A-925D-B34AFEB9F1A1}"/>
              </c:ext>
            </c:extLst>
          </c:dPt>
          <c:dPt>
            <c:idx val="2"/>
            <c:invertIfNegative val="0"/>
            <c:bubble3D val="0"/>
            <c:spPr>
              <a:solidFill>
                <a:srgbClr val="8B5E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88-455A-925D-B34AFEB9F1A1}"/>
              </c:ext>
            </c:extLst>
          </c:dPt>
          <c:dPt>
            <c:idx val="3"/>
            <c:invertIfNegative val="0"/>
            <c:bubble3D val="0"/>
            <c:spPr>
              <a:solidFill>
                <a:srgbClr val="3FA7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D88-455A-925D-B34AFEB9F1A1}"/>
              </c:ext>
            </c:extLst>
          </c:dPt>
          <c:dPt>
            <c:idx val="4"/>
            <c:invertIfNegative val="0"/>
            <c:bubble3D val="0"/>
            <c:spPr>
              <a:solidFill>
                <a:srgbClr val="B544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D88-455A-925D-B34AFEB9F1A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25334.95</c:v>
                </c:pt>
                <c:pt idx="1">
                  <c:v>8835.7900000000009</c:v>
                </c:pt>
                <c:pt idx="2">
                  <c:v>139481.20000000001</c:v>
                </c:pt>
                <c:pt idx="3">
                  <c:v>53001.95</c:v>
                </c:pt>
                <c:pt idx="4">
                  <c:v>2319.34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D88-455A-925D-B34AFEB9F1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32C-46B7-917D-FAC32ACFCDED}"/>
              </c:ext>
            </c:extLst>
          </c:dPt>
          <c:dPt>
            <c:idx val="1"/>
            <c:bubble3D val="0"/>
            <c:spPr>
              <a:solidFill>
                <a:srgbClr val="5B7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2C-46B7-917D-FAC32ACFCDED}"/>
              </c:ext>
            </c:extLst>
          </c:dPt>
          <c:dPt>
            <c:idx val="2"/>
            <c:bubble3D val="0"/>
            <c:spPr>
              <a:solidFill>
                <a:srgbClr val="8B5E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2C-46B7-917D-FAC32ACFCDED}"/>
              </c:ext>
            </c:extLst>
          </c:dPt>
          <c:dPt>
            <c:idx val="3"/>
            <c:bubble3D val="0"/>
            <c:spPr>
              <a:solidFill>
                <a:srgbClr val="3FA7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2C-46B7-917D-FAC32ACFCDED}"/>
              </c:ext>
            </c:extLst>
          </c:dPt>
          <c:dPt>
            <c:idx val="4"/>
            <c:bubble3D val="0"/>
            <c:spPr>
              <a:solidFill>
                <a:srgbClr val="B544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32C-46B7-917D-FAC32ACFCDE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32C-46B7-917D-FAC32ACFCDE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2C-46B7-917D-FAC32ACFCDE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2C-46B7-917D-FAC32ACFCDE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32C-46B7-917D-FAC32ACFCDE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32C-46B7-917D-FAC32ACFCDE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11.06</c:v>
                </c:pt>
                <c:pt idx="1">
                  <c:v>3.86</c:v>
                </c:pt>
                <c:pt idx="2">
                  <c:v>60.92</c:v>
                </c:pt>
                <c:pt idx="3">
                  <c:v>23.15</c:v>
                </c:pt>
                <c:pt idx="4">
                  <c:v>1.01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32C-46B7-917D-FAC32ACFCD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B1B1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LY</c:v>
                </c:pt>
              </c:strCache>
            </c:strRef>
          </c:tx>
          <c:spPr>
            <a:solidFill>
              <a:srgbClr val="C9D3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15.22</c:v>
                </c:pt>
                <c:pt idx="1">
                  <c:v>8.82</c:v>
                </c:pt>
                <c:pt idx="2">
                  <c:v>56.49</c:v>
                </c:pt>
                <c:pt idx="3">
                  <c:v>12.42</c:v>
                </c:pt>
                <c:pt idx="4">
                  <c:v>7.04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F1-494C-B9F8-A8346CF086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 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31.17</c:v>
                </c:pt>
                <c:pt idx="1">
                  <c:v>11.88</c:v>
                </c:pt>
                <c:pt idx="2">
                  <c:v>37.79</c:v>
                </c:pt>
                <c:pt idx="3">
                  <c:v>17.510000000000002</c:v>
                </c:pt>
                <c:pt idx="4">
                  <c:v>1.64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F1-494C-B9F8-A8346CF086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LY</c:v>
                </c:pt>
              </c:strCache>
            </c:strRef>
          </c:tx>
          <c:spPr>
            <a:solidFill>
              <a:srgbClr val="C9D3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18.47</c:v>
                </c:pt>
                <c:pt idx="1">
                  <c:v>10.130000000000001</c:v>
                </c:pt>
                <c:pt idx="2">
                  <c:v>71.400000000000006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6F-4517-904C-D8D7BD675A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 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25.46</c:v>
                </c:pt>
                <c:pt idx="1">
                  <c:v>13.47</c:v>
                </c:pt>
                <c:pt idx="2">
                  <c:v>61.07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6F-4517-904C-D8D7BD675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LY</c:v>
                </c:pt>
              </c:strCache>
            </c:strRef>
          </c:tx>
          <c:spPr>
            <a:solidFill>
              <a:srgbClr val="C9D3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92.86</c:v>
                </c:pt>
                <c:pt idx="1">
                  <c:v>0</c:v>
                </c:pt>
                <c:pt idx="2">
                  <c:v>7.14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06-4F81-8413-63D1DA94BD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 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06-4F81-8413-63D1DA94B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LY</c:v>
                </c:pt>
              </c:strCache>
            </c:strRef>
          </c:tx>
          <c:spPr>
            <a:solidFill>
              <a:srgbClr val="C9D3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2.58</c:v>
                </c:pt>
                <c:pt idx="2">
                  <c:v>0.86</c:v>
                </c:pt>
                <c:pt idx="3">
                  <c:v>31.74</c:v>
                </c:pt>
                <c:pt idx="4">
                  <c:v>62.71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12-43A6-ACF4-764B84A9BD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 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59.17</c:v>
                </c:pt>
                <c:pt idx="1">
                  <c:v>16.52</c:v>
                </c:pt>
                <c:pt idx="2">
                  <c:v>6.76</c:v>
                </c:pt>
                <c:pt idx="3">
                  <c:v>6.55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12-43A6-ACF4-764B84A9B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LY</c:v>
                </c:pt>
              </c:strCache>
            </c:strRef>
          </c:tx>
          <c:spPr>
            <a:solidFill>
              <a:srgbClr val="C9D3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49.99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8F-4F94-A83C-E5B6B4A40E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 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35.11</c:v>
                </c:pt>
                <c:pt idx="1">
                  <c:v>64.89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8F-4F94-A83C-E5B6B4A40E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LY</c:v>
                </c:pt>
              </c:strCache>
            </c:strRef>
          </c:tx>
          <c:spPr>
            <a:solidFill>
              <a:srgbClr val="C9D3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3.41</c:v>
                </c:pt>
                <c:pt idx="1">
                  <c:v>0</c:v>
                </c:pt>
                <c:pt idx="2">
                  <c:v>15.48</c:v>
                </c:pt>
                <c:pt idx="3">
                  <c:v>35.28</c:v>
                </c:pt>
                <c:pt idx="4">
                  <c:v>45.83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57-43BE-8186-B8AE2BE513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 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68.37</c:v>
                </c:pt>
                <c:pt idx="1">
                  <c:v>0</c:v>
                </c:pt>
                <c:pt idx="2">
                  <c:v>31.63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57-43BE-8186-B8AE2BE513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LY</c:v>
                </c:pt>
              </c:strCache>
            </c:strRef>
          </c:tx>
          <c:spPr>
            <a:solidFill>
              <a:srgbClr val="C9D3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41.87</c:v>
                </c:pt>
                <c:pt idx="3">
                  <c:v>58.13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6D-426D-81F4-7A5B9C99BA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 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0.99</c:v>
                </c:pt>
                <c:pt idx="1">
                  <c:v>0</c:v>
                </c:pt>
                <c:pt idx="2">
                  <c:v>71.09</c:v>
                </c:pt>
                <c:pt idx="3">
                  <c:v>27.92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6D-426D-81F4-7A5B9C99BA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LY</c:v>
                </c:pt>
              </c:strCache>
            </c:strRef>
          </c:tx>
          <c:spPr>
            <a:solidFill>
              <a:srgbClr val="C9D3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8.49</c:v>
                </c:pt>
                <c:pt idx="2">
                  <c:v>76.010000000000005</c:v>
                </c:pt>
                <c:pt idx="3">
                  <c:v>0</c:v>
                </c:pt>
                <c:pt idx="4">
                  <c:v>15.1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C2-46F2-BD86-6759A743E9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 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89.99</c:v>
                </c:pt>
                <c:pt idx="3">
                  <c:v>0</c:v>
                </c:pt>
                <c:pt idx="4">
                  <c:v>10.01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C2-46F2-BD86-6759A743E9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LY</c:v>
                </c:pt>
              </c:strCache>
            </c:strRef>
          </c:tx>
          <c:spPr>
            <a:solidFill>
              <a:srgbClr val="C9D3E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40.79</c:v>
                </c:pt>
                <c:pt idx="1">
                  <c:v>59.21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F2-45FF-BDEF-0D6ACD1C34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 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  <c:pt idx="3">
                  <c:v>DELTA</c:v>
                </c:pt>
                <c:pt idx="4">
                  <c:v>EPSILON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43</c:v>
                </c:pt>
                <c:pt idx="1">
                  <c:v>57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F2-45FF-BDEF-0D6ACD1C34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20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BDF717-0A8C-E032-4460-42D745764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ALPHA's overall standing across all products (April-May'26) — Sample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733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TOTAL VOLUME (CY)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25,335 MT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62432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17,874 MT 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9272" y="150876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83864" y="16733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GROWTH (%)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83864" y="20116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+41.7%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83864" y="262432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growth among all OMCs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9904" y="150876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16733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(CY)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54496" y="20116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54496" y="262432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4.9% 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60536" y="150876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25128" y="167335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CHANGE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25128" y="201168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+6.2 pts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25128" y="262432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gainer this period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Industry-Wide Volume by OMC - Current Year (MT)</a:t>
            </a:r>
            <a:endParaRPr lang="en-US" sz="14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548640" y="3657600"/>
          <a:ext cx="54864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635508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(CY) by OMC</a:t>
            </a:r>
            <a:endParaRPr lang="en-US" sz="140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6355080" y="3657600"/>
          <a:ext cx="54864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PRD-A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Velocta Diesel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0" y="365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212080" cy="21762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Growth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19,544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16,660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+17.3%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7,451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9,653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-22.8%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23,694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61,822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-61.7%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10,979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13,588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-19.2%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1,030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7,708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-86.6%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62,698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1,09,430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-42.7%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5486400" cy="21762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CY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LY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+/- (pts)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31.2%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15.2%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+15.9%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11.9%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+3.1%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37.8%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56.5%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-18.7%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17.5%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12.4%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+5.1%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1.6%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7.0%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-5.4%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Comparison (CY vs LY) - %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448056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1605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FF6EE"/>
          </a:solidFill>
          <a:ln w="12700">
            <a:solidFill>
              <a:srgbClr val="F5D7B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35508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POSITION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355080" y="46634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Growth (%): </a:t>
            </a:r>
            <a:r>
              <a:rPr lang="en-US" sz="1300" b="1" dirty="0">
                <a:solidFill>
                  <a:srgbClr val="1B8A5A"/>
                </a:solidFill>
              </a:rPr>
              <a:t>+17.3%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Market share change: </a:t>
            </a:r>
            <a:r>
              <a:rPr lang="en-US" sz="1300" b="1" dirty="0">
                <a:solidFill>
                  <a:srgbClr val="1B8A5A"/>
                </a:solidFill>
              </a:rPr>
              <a:t>+15.9% pts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</a:rPr>
              <a:t>ALPHA is gaining volume and share in this product vs all peer OMCs.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PRD-B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Velocta Spirit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0" y="365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212080" cy="21762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Growth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158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146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+8.3%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+4.4%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379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564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-32.8%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621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790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-21.4%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5486400" cy="21762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CY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LY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+/- (pts)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25.5%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18.5%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+7.0%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13.5%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+3.3%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61.1%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71.4%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-10.3%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Comparison (CY vs LY) - %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448056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4"/>
          <p:cNvSpPr/>
          <p:nvPr/>
        </p:nvSpPr>
        <p:spPr>
          <a:xfrm>
            <a:off x="6126480" y="41605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FF6EE"/>
          </a:solidFill>
          <a:ln w="12700">
            <a:solidFill>
              <a:srgbClr val="F5D7B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35508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POSITION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355080" y="46634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Growth (%): </a:t>
            </a:r>
            <a:r>
              <a:rPr lang="en-US" sz="1300" b="1" dirty="0">
                <a:solidFill>
                  <a:srgbClr val="1B8A5A"/>
                </a:solidFill>
              </a:rPr>
              <a:t>+8.3%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Market share change: </a:t>
            </a:r>
            <a:r>
              <a:rPr lang="en-US" sz="1300" b="1" dirty="0">
                <a:solidFill>
                  <a:srgbClr val="1B8A5A"/>
                </a:solidFill>
              </a:rPr>
              <a:t>+7.0% pts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</a:rPr>
              <a:t>ALPHA is gaining volume and share in this product vs all peer OMCs.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PRD-C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Velocta Kerosene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0" y="365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212080" cy="21762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Growth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121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131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5486400" cy="21762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CY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LY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+/- (pts)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92.9%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7.1%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Comparison (CY vs LY) - %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448056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1605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FF6EE"/>
          </a:solidFill>
          <a:ln w="12700">
            <a:solidFill>
              <a:srgbClr val="F5D7B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35508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POSITION</a:t>
            </a:r>
            <a:endParaRPr lang="en-US" sz="1100" dirty="0"/>
          </a:p>
        </p:txBody>
      </p:sp>
      <p:sp>
        <p:nvSpPr>
          <p:cNvPr id="5" name="Text 6"/>
          <p:cNvSpPr/>
          <p:nvPr/>
        </p:nvSpPr>
        <p:spPr>
          <a:xfrm>
            <a:off x="6355080" y="46634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Growth (%): </a:t>
            </a:r>
            <a:r>
              <a:rPr lang="en-US" sz="1300" b="1" dirty="0">
                <a:solidFill>
                  <a:srgbClr val="C0392B"/>
                </a:solidFill>
              </a:rPr>
              <a:t>-100.0%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Market share change: -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</a:rPr>
              <a:t>ALPHA volume has declined; monitor competitive pricing and supply in this segment.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PRD-D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Velocta Light Oil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0" y="365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212080" cy="21762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Growth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2,106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168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+1152.8%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588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206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+184.7%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241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+248.1%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233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2,540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-90.8%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392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5,018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-92.2%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3,559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8,002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-55.5%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5486400" cy="21762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CY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LY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+/- (pts)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59.2%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+57.1%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16.5%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2.6%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+13.9%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+5.9%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31.7%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-25.2%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11.0%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62.7%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-51.7%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Comparison (CY vs LY) - %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448056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1605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FF6EE"/>
          </a:solidFill>
          <a:ln w="12700">
            <a:solidFill>
              <a:srgbClr val="F5D7B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35508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POSITION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355080" y="46634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Growth (%): </a:t>
            </a:r>
            <a:r>
              <a:rPr lang="en-US" sz="1300" b="1" dirty="0">
                <a:solidFill>
                  <a:srgbClr val="1B8A5A"/>
                </a:solidFill>
              </a:rPr>
              <a:t>+1152.8%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Market share change: </a:t>
            </a:r>
            <a:r>
              <a:rPr lang="en-US" sz="1300" b="1" dirty="0">
                <a:solidFill>
                  <a:srgbClr val="1B8A5A"/>
                </a:solidFill>
              </a:rPr>
              <a:t>+57.1% pts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</a:rPr>
              <a:t>ALPHA is gaining volume and share in this product vs all peer OMCs.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PRD-E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Velocta Solvent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0" y="365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212080" cy="21762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Growth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-18.8%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160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+50.0%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246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213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+15.6%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5486400" cy="21762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CY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LY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+/- (pts)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35.1%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-14.9%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64.9%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+14.9%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Comparison (CY vs LY) - %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448056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1605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FF6EE"/>
          </a:solidFill>
          <a:ln w="12700">
            <a:solidFill>
              <a:srgbClr val="F5D7B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35508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POSITION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355080" y="46634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Growth (%): </a:t>
            </a:r>
            <a:r>
              <a:rPr lang="en-US" sz="1300" b="1" dirty="0">
                <a:solidFill>
                  <a:srgbClr val="C0392B"/>
                </a:solidFill>
              </a:rPr>
              <a:t>-18.8%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Market share change: </a:t>
            </a:r>
            <a:r>
              <a:rPr lang="en-US" sz="1300" b="1" dirty="0">
                <a:solidFill>
                  <a:srgbClr val="C0392B"/>
                </a:solidFill>
              </a:rPr>
              <a:t>-14.9% pts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</a:rPr>
              <a:t>ALPHA volume has declined; monitor competitive pricing and supply in this segment.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PRD-F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Velocta Sulphur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0" y="365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212080" cy="21762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Growth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1,540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139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+1004.4%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713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634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+12.5%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1,444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1,876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2,253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4,093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-45.0%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5486400" cy="21762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CY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LY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+/- (pts)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68.4%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+65.0%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31.6%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15.5%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+16.1%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35.3%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-35.3%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45.8%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-45.8%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Comparison (CY vs LY) - %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448056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4"/>
          <p:cNvSpPr/>
          <p:nvPr/>
        </p:nvSpPr>
        <p:spPr>
          <a:xfrm>
            <a:off x="6126480" y="41605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FF6EE"/>
          </a:solidFill>
          <a:ln w="12700">
            <a:solidFill>
              <a:srgbClr val="F5D7B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35508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POSITION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355080" y="46634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Growth (%): </a:t>
            </a:r>
            <a:r>
              <a:rPr lang="en-US" sz="1300" b="1" dirty="0">
                <a:solidFill>
                  <a:srgbClr val="1B8A5A"/>
                </a:solidFill>
              </a:rPr>
              <a:t>+1004.4%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Market share change: </a:t>
            </a:r>
            <a:r>
              <a:rPr lang="en-US" sz="1300" b="1" dirty="0">
                <a:solidFill>
                  <a:srgbClr val="1B8A5A"/>
                </a:solidFill>
              </a:rPr>
              <a:t>+65.0% pts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</a:rPr>
              <a:t>ALPHA is gaining volume and share in this product vs all peer OMCs.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PRD-G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Velocta Coke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0" y="365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212080" cy="21762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Growth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1,483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1,06,384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95,565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+11.3%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41,790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1,32,654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-68.5%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1,49,657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2,28,219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-34.4%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5486400" cy="21762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CY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LY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+/- (pts)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71.1%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41.9%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+29.2%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27.9%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58.1%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-30.2%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Comparison (CY vs LY) - %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448056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1605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FF6EE"/>
          </a:solidFill>
          <a:ln w="12700">
            <a:solidFill>
              <a:srgbClr val="F5D7B8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635508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POSITION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355080" y="46634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Growth (%): -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Market share change: </a:t>
            </a:r>
            <a:r>
              <a:rPr lang="en-US" sz="1300" b="1" dirty="0">
                <a:solidFill>
                  <a:srgbClr val="1B8A5A"/>
                </a:solidFill>
              </a:rPr>
              <a:t>+1.0% pts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</a:rPr>
              <a:t>ALPHA volume has declined; monitor competitive pricing and supply in this segment.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PRD-H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Velocta Heavy Stock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0" y="365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212080" cy="21762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Growth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962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8,071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8,617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-6.3%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898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1,712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-47.5%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8,969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11,336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-20.9%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5486400" cy="21762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CY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LY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+/- (pts)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-0.4%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8.5%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-8.5%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90.0%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76.0%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+14.0%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15.1%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-5.1%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8A5A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Comparison (CY vs LY) - %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448056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1605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FF6EE"/>
          </a:solidFill>
          <a:ln w="12700">
            <a:solidFill>
              <a:srgbClr val="F5D7B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35508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POSITION</a:t>
            </a:r>
            <a:endParaRPr lang="en-US" sz="1100" dirty="0"/>
          </a:p>
        </p:txBody>
      </p:sp>
      <p:sp>
        <p:nvSpPr>
          <p:cNvPr id="5" name="Text 6"/>
          <p:cNvSpPr/>
          <p:nvPr/>
        </p:nvSpPr>
        <p:spPr>
          <a:xfrm>
            <a:off x="6355080" y="46634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Growth (%): </a:t>
            </a:r>
            <a:r>
              <a:rPr lang="en-US" sz="1300" b="1" dirty="0">
                <a:solidFill>
                  <a:srgbClr val="C0392B"/>
                </a:solidFill>
              </a:rPr>
              <a:t>-100.0%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Market share change: </a:t>
            </a:r>
            <a:r>
              <a:rPr lang="en-US" sz="1300" b="1" dirty="0">
                <a:solidFill>
                  <a:srgbClr val="C0392B"/>
                </a:solidFill>
              </a:rPr>
              <a:t>-0.4% pts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</a:rPr>
              <a:t>ALPHA volume has declined; monitor competitive pricing and supply in this segment.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PRD-I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Velocta Hexane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0" y="365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212080" cy="21762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LY Vol (MT)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Growth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418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487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-14.3%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554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707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-21.8%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971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1,195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-18.7%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5486400" cy="21762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OMC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CY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MS LY (%)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+/- (pts)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2994A"/>
                          </a:solidFill>
                        </a:rPr>
                        <a:t>ALPHA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43.0%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40.8%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BETA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57.0%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59.2%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GAMMA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DELTA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EPSILON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Comparison (CY vs LY) - %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448056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1605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FF6EE"/>
          </a:solidFill>
          <a:ln w="12700">
            <a:solidFill>
              <a:srgbClr val="F5D7B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35508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POSITION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355080" y="466344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Growth (%): </a:t>
            </a:r>
            <a:r>
              <a:rPr lang="en-US" sz="1300" b="1" dirty="0">
                <a:solidFill>
                  <a:srgbClr val="C0392B"/>
                </a:solidFill>
              </a:rPr>
              <a:t>-14.3%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1B"/>
                </a:solidFill>
              </a:rPr>
              <a:t>Market share change: -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</a:rPr>
              <a:t>ALPHA volume has declined; monitor competitive pricing and supply in this segment.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for ALPHA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4337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190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0574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ALPHA's total volume grew +41.7% YoY - the strongest performance among all OMCs, with market share up 6.2 points to 11.1%.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4337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7190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Gaining Share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20574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PRD-A, PRD-B, PRD-D, PRD-F posted positive YoY growth, led by PRD-D and PRD-F with triple-digit gains.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4337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5478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8862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PRD-C, PRD-E, PRD-H, PRD-I saw volume declines YoY - these segments warrant focused commercial action.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33832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24337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5478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38862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momentum in PRD-D, PRD-F and PRD-A; develop a recovery plan for PRD-H, PRD-E, PRD-I and PRD-B to defend overall market position.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sample by Parv Bhargava  |  Illustrative dataset, structure based on real-world OMC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Tools, Skills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CADCFC"/>
                </a:solidFill>
                <a:latin typeface="Calibri"/>
              </a:rPr>
              <a:t>How this dashboard was built — on behalf of Parv Bhargava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20440" cy="4297680"/>
          </a:xfrm>
          <a:prstGeom prst="roundRect">
            <a:avLst>
              <a:gd name="adj" fmla="val 4000"/>
            </a:avLst>
          </a:prstGeom>
          <a:solidFill>
            <a:srgbClr val="243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E276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98424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Excel &amp; Data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Advanced Excel: PivotTables, INDEX-MATCH/XLOOKUP, what-if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290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Power Query for data cleaning &amp;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20624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Power Pivot / data modelling with relationships &amp; DAX 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98348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Dynamic charts, conditional formatting &amp; dashboard layouts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3520440" cy="4297680"/>
          </a:xfrm>
          <a:prstGeom prst="roundRect">
            <a:avLst>
              <a:gd name="adj" fmla="val 4000"/>
            </a:avLst>
          </a:prstGeom>
          <a:solidFill>
            <a:srgbClr val="243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E2761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98424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Data Connections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Connecting Excel/Power BI to source files, folders &amp; databases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290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Structuring raw exports into clean fact &amp; dimension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20624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Building CY vs LY, growth % and market-share calculations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98348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Refreshable, template-driven reporting structures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91640"/>
            <a:ext cx="3520440" cy="4297680"/>
          </a:xfrm>
          <a:prstGeom prst="roundRect">
            <a:avLst>
              <a:gd name="adj" fmla="val 4000"/>
            </a:avLst>
          </a:prstGeom>
          <a:solidFill>
            <a:srgbClr val="243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E2761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98424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AI-Assisted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5176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Claude — structuring data, generating this dashboard &amp; slide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290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ChatGPT — formula logic, drafting &amp; ideation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0624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Perplexity — quick research &amp; validating industry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98348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>
                <a:solidFill>
                  <a:srgbClr val="CADCFC"/>
                </a:solidFill>
                <a:latin typeface="Calibri"/>
              </a:rPr>
              <a:t>•  Prompt engineering to turn raw data into business insight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263640"/>
            <a:ext cx="11091672" cy="18288"/>
          </a:xfrm>
          <a:prstGeom prst="rect">
            <a:avLst/>
          </a:prstGeom>
          <a:solidFill>
            <a:srgbClr val="8C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CADCFC"/>
                </a:solidFill>
                <a:latin typeface="Calibri"/>
              </a:rPr>
              <a:t>Data structure shown here is illustrative/sample — built and presented by Parv Bhargava using Excel, data modelling &amp; AI-assisted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1676</Words>
  <Application>Microsoft Office PowerPoint</Application>
  <PresentationFormat>Widescreen</PresentationFormat>
  <Paragraphs>640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OMC Performance Dashboard (Sample Portfolio Project)</dc:title>
  <dc:subject>Data Dashboard Portfolio Sample</dc:subject>
  <dc:creator>Parv Bhargava</dc:creator>
  <cp:lastModifiedBy>Parv Bhagava</cp:lastModifiedBy>
  <cp:revision>3</cp:revision>
  <dcterms:created xsi:type="dcterms:W3CDTF">2026-06-30T04:54:45Z</dcterms:created>
  <dcterms:modified xsi:type="dcterms:W3CDTF">2026-06-30T09:40:58Z</dcterms:modified>
</cp:coreProperties>
</file>